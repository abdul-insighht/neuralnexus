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1E3A5F"/>
                </a:solidFill>
                <a:latin typeface="Georgia"/>
              </a:defRPr>
            </a:pPr>
            <a:r>
              <a:t>NeuralNexus</a:t>
            </a:r>
          </a:p>
          <a:p>
            <a:pPr>
              <a:spcBef>
                <a:spcPts val="1200"/>
              </a:spcBef>
              <a:defRPr sz="2400" i="1">
                <a:solidFill>
                  <a:srgbClr val="785028"/>
                </a:solidFill>
                <a:latin typeface="Georgia"/>
              </a:defRPr>
            </a:pPr>
            <a:r>
              <a:t>Autonomous Financial Intelligence Fabric</a:t>
            </a:r>
          </a:p>
          <a:p>
            <a:pPr>
              <a:spcBef>
                <a:spcPts val="1800"/>
              </a:spcBef>
              <a:defRPr sz="1400">
                <a:solidFill>
                  <a:srgbClr val="1E2832"/>
                </a:solidFill>
                <a:latin typeface="Georgia"/>
              </a:defRPr>
            </a:pPr>
            <a:r>
              <a:t>5 AI Agents that detect contradictions, reconcile conflicts, and audit every answer with full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32720" cy="219456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rPr dirty="0"/>
              <a:t>📊 Track 4: Data &amp; Intelligence  |  AI Agent Olympics 2026</a:t>
            </a:r>
          </a:p>
          <a:p>
            <a:pPr>
              <a:spcBef>
                <a:spcPts val="1000"/>
              </a:spcBef>
              <a:defRPr sz="1200" b="1">
                <a:solidFill>
                  <a:srgbClr val="785028"/>
                </a:solidFill>
                <a:latin typeface="Georgia"/>
              </a:defRPr>
            </a:pPr>
            <a:r>
              <a:rPr dirty="0"/>
              <a:t>Team Members:  Hafiz Abdul Rehman  •  Meer Hamza  •  </a:t>
            </a:r>
            <a:r>
              <a:rPr dirty="0" err="1"/>
              <a:t>Sayyam</a:t>
            </a:r>
            <a:r>
              <a:rPr dirty="0"/>
              <a:t> Akram</a:t>
            </a:r>
          </a:p>
          <a:p>
            <a:pPr>
              <a:spcBef>
                <a:spcPts val="1200"/>
              </a:spcBef>
              <a:defRPr sz="1100">
                <a:solidFill>
                  <a:srgbClr val="1E2832"/>
                </a:solidFill>
                <a:latin typeface="Courier New"/>
              </a:defRPr>
            </a:pPr>
            <a:r>
              <a:rPr dirty="0"/>
              <a:t>Live App: </a:t>
            </a:r>
            <a:r>
              <a:rPr lang="en-US" dirty="0"/>
              <a:t>https://neuralnexus-omega.vercel.app/</a:t>
            </a:r>
            <a:br>
              <a:rPr dirty="0"/>
            </a:br>
            <a:r>
              <a:rPr dirty="0"/>
              <a:t>GitHub:   </a:t>
            </a:r>
            <a:r>
              <a:rPr lang="en-US" dirty="0"/>
              <a:t>https://github.com/Abdul-Insighht/neuralnexus.git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The Enterprise Data Quality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Modern enterprises lose millions annually due to silent data discrepancies across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1188720"/>
          </a:xfrm>
          <a:prstGeom prst="roundRect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$12.9M</a:t>
            </a:r>
          </a:p>
          <a:p>
            <a:pPr algn="ctr">
              <a:defRPr sz="1100">
                <a:solidFill>
                  <a:srgbClr val="DCD7C8"/>
                </a:solidFill>
                <a:latin typeface="Georgia"/>
              </a:defRPr>
            </a:pPr>
            <a:r>
              <a:t>Average Annual Loss</a:t>
            </a:r>
            <a:br/>
            <a:r>
              <a:t>Due to Poor Data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2011680" cy="3108960"/>
          </a:xfrm>
          <a:prstGeom prst="rect">
            <a:avLst/>
          </a:prstGeom>
          <a:solidFill>
            <a:srgbClr val="F0EBDC"/>
          </a:solidFill>
          <a:ln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300" b="1">
                <a:solidFill>
                  <a:srgbClr val="B43C3C"/>
                </a:solidFill>
                <a:latin typeface="Georgia"/>
              </a:defRPr>
            </a:pPr>
            <a:r>
              <a:t>🚨 Critical Risk Factors</a:t>
            </a:r>
          </a:p>
          <a:p>
            <a:pPr>
              <a:spcBef>
                <a:spcPts val="10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When Sales DB disagrees with audited reports, decisions stall. Inaccurate reports lead to compliance failures, heavy regulatory penalties, and completely broken executive forecasts.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45920"/>
            <a:ext cx="411480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1. Fragmented Data Silos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Financial indicators live across 5 to 15 different applications (CRMs, SQL databases, offline spreadsheets, external APIs, and manual PDF reports) without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411480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2. Silent Contradictions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Numerical figures often conflict silently across platforms (e.g. Sales system shows $4.2M, Financials show $3.8M). No existing pipeline flags these discrepancies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023360"/>
            <a:ext cx="411480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3. 100% Reactive Workflows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Financial intelligence analysts spend up to 80% of their operational bandwidth just locating data errors and trying to reconcile them manually, leaving no time for real risk mitigation.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023360"/>
            <a:ext cx="411480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4. Zero Verification &amp; Traceability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Standard corporate AI systems produce outputs without citations or traceability, causing hallucinations. There is no proof or lineage trace back to the exact source row and column.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📊 Track 4: Data &amp;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Purpose-built alignment: how NeuralNexus addresses each core challenge of Track 4.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Track 4 Focus Area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NeuralNexus Enterprise Implementation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RAG Systems Over Multi-Source Data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Temporal Vector Store using 768-dim Gemini Embeddings + automatic metadata filters to query structured (CSV, Excel) and unstructured (PDF, Images) federated data.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AI-Powered Pipelines &amp; Validation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ValidatorAgent runs continuous background scans (Z-score, CUSUM-like drift, spikes). DataQualityScorer grades every source dynamically on Completeness, Consistency, Timeliness.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Natural Language Querying Agents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OrchestratorAgent decomposes queries, routes to specialized sub-agents, and streams unified answers to the frontend in real-time using NDJSON protocol.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Anomaly Detection &amp; Forecasting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ValidatorAgent identifies outliers &amp; temporal pattern breaks, while ForecasterAgent computes trends, seasonal autocorrelations, and outputs proactive risk assessments.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Knowledge Graph Extraction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DynamicKnowledgeGraph automatically parses documents &amp; tables to construct a complete NetworkX entity network, dynamically injecting contradiction edges (red).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The Autonomous Intelligence Fabric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A unified 5-agent ecosystem designed to act as an automated CFO assistant.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1. Multi-Format Federation Hub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Ingests CSV, Excel, JSON, PDF (via Multimodal Vision), and Images (receipts, charts) into a single, unified database schema.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2. Automatic Conflict Finder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Scans cross-source data dynamically to uncover numerical discrepancies, semantic contradictions, and temporal metric variations.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6616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3. Trust-Weighted Reconciler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Leverages multi-agent reasoning to compare data freshness, source credibility, and record count, recommending the logical 'best-truth'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29184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4. Proactive Forecasting Hub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Computes time-series trend strength, seasonal cycles, and proactive risk indices, delivering predictive warnings before the user 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329184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5. Five-Dimension Answer Audit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The CriticAgent acts as an independent compliance gate, grading every output on Accuracy, Completeness, Uncertainty, and Actionability.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023360"/>
            <a:ext cx="356616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6. Full Cell-Level Data Lineage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Every word and number is fully traceable. Click on any figure in a generated answer to see the exact CSV row, column, or PDF sentence it came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Autonomous Multi-Agent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Visual data pipeline flow, showcasing sequential processing and verification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1645920" cy="1645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rPr sz="1200" dirty="0"/>
              <a:t>1. Ingestion</a:t>
            </a:r>
            <a:br>
              <a:rPr sz="1200" dirty="0"/>
            </a:br>
            <a:r>
              <a:rPr sz="1200" dirty="0"/>
              <a:t>---</a:t>
            </a:r>
            <a:br>
              <a:rPr sz="1200" dirty="0"/>
            </a:br>
            <a:r>
              <a:rPr sz="1200" dirty="0"/>
              <a:t>Federation</a:t>
            </a:r>
            <a:br>
              <a:rPr sz="1200" dirty="0"/>
            </a:br>
            <a:r>
              <a:rPr sz="1200" dirty="0"/>
              <a:t>Hub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6000" y="3337560"/>
            <a:ext cx="365760" cy="27432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43200" y="2377440"/>
            <a:ext cx="2194560" cy="2194560"/>
          </a:xfrm>
          <a:prstGeom prst="ellipse">
            <a:avLst/>
          </a:prstGeom>
          <a:solidFill>
            <a:srgbClr val="78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2. Orchestrator</a:t>
            </a:r>
            <a:br/>
            <a:r>
              <a:t>---</a:t>
            </a:r>
            <a:br/>
            <a:r>
              <a:t>The Agent Brain</a:t>
            </a:r>
            <a:br/>
            <a:r>
              <a:t>Decomposes</a:t>
            </a:r>
            <a:br/>
            <a:r>
              <a:t>Queries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1691640"/>
            <a:ext cx="45720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029200" y="3337560"/>
            <a:ext cx="45720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029200" y="4983480"/>
            <a:ext cx="45720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77840" y="1388224"/>
            <a:ext cx="2194560" cy="10806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rPr dirty="0"/>
              <a:t>🔍 </a:t>
            </a:r>
            <a:r>
              <a:rPr dirty="0" err="1"/>
              <a:t>ValidatorAgent</a:t>
            </a:r>
            <a:endParaRPr dirty="0"/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rPr dirty="0"/>
              <a:t>Statistical anomalies, outliers &amp; CUSUM drift scanning.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834640"/>
            <a:ext cx="2194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rPr dirty="0"/>
              <a:t>⚖️ </a:t>
            </a:r>
            <a:r>
              <a:rPr dirty="0" err="1"/>
              <a:t>ReconcilerAgent</a:t>
            </a:r>
            <a:endParaRPr dirty="0"/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rPr dirty="0"/>
              <a:t>Trust-weighted mathematical resolving of conflicts.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4389120"/>
            <a:ext cx="2194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📈 ForecasterAgent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Seasonality, rolling trends &amp; proactive risk scores.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1691640"/>
            <a:ext cx="45720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863840" y="3337560"/>
            <a:ext cx="45720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863840" y="4983480"/>
            <a:ext cx="45720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80" y="2560320"/>
            <a:ext cx="1828800" cy="1828800"/>
          </a:xfrm>
          <a:prstGeom prst="ellipse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3. CriticAgent</a:t>
            </a:r>
            <a:br/>
            <a:r>
              <a:t>---</a:t>
            </a:r>
            <a:br/>
            <a:r>
              <a:t>QA Gate</a:t>
            </a:r>
            <a:br/>
            <a:r>
              <a:t>Scores QA &amp;</a:t>
            </a:r>
            <a:br/>
            <a:r>
              <a:t>Injects Caveats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332720" y="3337560"/>
            <a:ext cx="365760" cy="27432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89919" y="2743200"/>
            <a:ext cx="1255223" cy="1072342"/>
          </a:xfrm>
          <a:prstGeom prst="ellipse">
            <a:avLst/>
          </a:prstGeom>
          <a:solidFill>
            <a:srgbClr val="2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rPr sz="1100" dirty="0"/>
              <a:t>4. Output</a:t>
            </a:r>
            <a:br>
              <a:rPr sz="1100" dirty="0"/>
            </a:br>
            <a:r>
              <a:rPr sz="1100" dirty="0"/>
              <a:t>---</a:t>
            </a:r>
            <a:br>
              <a:rPr sz="1100" dirty="0"/>
            </a:br>
            <a:r>
              <a:rPr sz="1100" dirty="0"/>
              <a:t>NDJSON</a:t>
            </a:r>
            <a:br>
              <a:rPr sz="1100" dirty="0"/>
            </a:br>
            <a:r>
              <a:rPr sz="1100" dirty="0"/>
              <a:t>Stream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The Coordinated Agent Specialists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Five distinct, prompt-engineered AI agents mapped to specific mathematical &amp; analytical tasks.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OrchestratorAgent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AF5EB"/>
                </a:solidFill>
                <a:latin typeface="Georgia"/>
              </a:defRPr>
            </a:pPr>
            <a:r>
              <a:t>THE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011680" cy="347472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100">
                <a:solidFill>
                  <a:srgbClr val="1E2832"/>
                </a:solidFill>
                <a:latin typeface="Georgia"/>
              </a:defRPr>
            </a:pPr>
            <a:r>
              <a:t>Coordinates the complete pipeline. Decomposes complex financial queries, triggers vector retrieval, dynamically handles context windows, and manages asynchronous tasks.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45920"/>
            <a:ext cx="2011680" cy="914400"/>
          </a:xfrm>
          <a:prstGeom prst="rect">
            <a:avLst/>
          </a:prstGeom>
          <a:solidFill>
            <a:srgbClr val="28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ValidatorAgent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AF5EB"/>
                </a:solidFill>
                <a:latin typeface="Georgia"/>
              </a:defRPr>
            </a:pPr>
            <a:r>
              <a:t>THE WATCHDOG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651760"/>
            <a:ext cx="2011680" cy="347472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100">
                <a:solidFill>
                  <a:srgbClr val="1E2832"/>
                </a:solidFill>
                <a:latin typeface="Georgia"/>
              </a:defRPr>
            </a:pPr>
            <a:r>
              <a:t>Continuously executes statistical scans on ingested databases. Uses Z-scores to isolate anomalies, CUSUM drift detection, and flags quality drop warnings (🔴 Critical, 🟠 Warning).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45920"/>
            <a:ext cx="2011680" cy="914400"/>
          </a:xfrm>
          <a:prstGeom prst="rect">
            <a:avLst/>
          </a:prstGeom>
          <a:solidFill>
            <a:srgbClr val="78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ReconcilerAgent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AF5EB"/>
                </a:solidFill>
                <a:latin typeface="Georgia"/>
              </a:defRPr>
            </a:pPr>
            <a:r>
              <a:t>THE JUDGE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651760"/>
            <a:ext cx="2011680" cy="347472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100">
                <a:solidFill>
                  <a:srgbClr val="1E2832"/>
                </a:solidFill>
                <a:latin typeface="Georgia"/>
              </a:defRPr>
            </a:pPr>
            <a:r>
              <a:t>Analyzes and resolves data mismatches. Weighs source credibility (e.g. Audited File = 0.95 vs Spreadsheet = 0.70) to produce 'best truth' values with an uncertainty range.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645920"/>
            <a:ext cx="2011680" cy="914400"/>
          </a:xfrm>
          <a:prstGeom prst="rect">
            <a:avLst/>
          </a:prstGeom>
          <a:solidFill>
            <a:srgbClr val="2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ForecasterAgent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AF5EB"/>
                </a:solidFill>
                <a:latin typeface="Georgia"/>
              </a:defRPr>
            </a:pPr>
            <a:r>
              <a:t>THE ORACLE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651760"/>
            <a:ext cx="2011680" cy="347472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100">
                <a:solidFill>
                  <a:srgbClr val="1E2832"/>
                </a:solidFill>
                <a:latin typeface="Georgia"/>
              </a:defRPr>
            </a:pPr>
            <a:r>
              <a:t>Detects temporal patterns and trend indices. Computes Coefficient of Variation (volatility) and autocorrelation at multiple lag intervals to model future risks.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45920"/>
            <a:ext cx="2011680" cy="914400"/>
          </a:xfrm>
          <a:prstGeom prst="rect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CriticAgent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AF5EB"/>
                </a:solidFill>
                <a:latin typeface="Georgia"/>
              </a:defRPr>
            </a:pPr>
            <a:r>
              <a:t>THE AUDITOR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651760"/>
            <a:ext cx="2011680" cy="347472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100">
                <a:solidFill>
                  <a:srgbClr val="1E2832"/>
                </a:solidFill>
                <a:latin typeface="Georgia"/>
              </a:defRPr>
            </a:pPr>
            <a:r>
              <a:t>Strict Quality Assurance firewall. Rates every orchestrated output (0-100) on Accuracy, Completeness, Actionability, and handling of Uncertainty. Automatically adds disclaimers.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Under-the-Hood Technical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Engineered framework layers that process data pipelines, index metadata, and build lineage.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Data Federation Hub</a:t>
            </a:r>
          </a:p>
          <a:p>
            <a:pPr>
              <a:spcBef>
                <a:spcPts val="200"/>
              </a:spcBef>
              <a:defRPr sz="1000" b="1">
                <a:solidFill>
                  <a:srgbClr val="785028"/>
                </a:solidFill>
                <a:latin typeface="Georgia"/>
              </a:defRPr>
            </a:pPr>
            <a:r>
              <a:t>Layer 1: Unified Ingestion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Standardizes CSV, Excel, JSON, PDFs, and images into normalized Pandas DataFrames. Features automatic schema inference and SHA-256 fingerprinting for secure data lifecycle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Data Quality Scorer</a:t>
            </a:r>
          </a:p>
          <a:p>
            <a:pPr>
              <a:spcBef>
                <a:spcPts val="200"/>
              </a:spcBef>
              <a:defRPr sz="1000" b="1">
                <a:solidFill>
                  <a:srgbClr val="785028"/>
                </a:solidFill>
                <a:latin typeface="Georgia"/>
              </a:defRPr>
            </a:pPr>
            <a:r>
              <a:t>Layer 2: Multi-Dimension Grades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Automatically scores every incoming dataset. Weights Completeness (35% null check), Consistency (35% duplicate check), and Timeliness (30% freshness index) to assign grades A to 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Contradiction Detector</a:t>
            </a:r>
          </a:p>
          <a:p>
            <a:pPr>
              <a:spcBef>
                <a:spcPts val="200"/>
              </a:spcBef>
              <a:defRPr sz="1000" b="1">
                <a:solidFill>
                  <a:srgbClr val="785028"/>
                </a:solidFill>
                <a:latin typeface="Georgia"/>
              </a:defRPr>
            </a:pPr>
            <a:r>
              <a:t>Layer 2: Factual Conflict Engine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Cross-checks data in 3 modes: tabular vs tabular, extracted PDF text vs tabular aggregated metrics, and text vs text using regex entities. Classifies discrepancy severity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Data Lineage Tracker</a:t>
            </a:r>
          </a:p>
          <a:p>
            <a:pPr>
              <a:spcBef>
                <a:spcPts val="200"/>
              </a:spcBef>
              <a:defRPr sz="1000" b="1">
                <a:solidFill>
                  <a:srgbClr val="785028"/>
                </a:solidFill>
                <a:latin typeface="Georgia"/>
              </a:defRPr>
            </a:pPr>
            <a:r>
              <a:t>Layer 2: Factual Provenance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Tracks cell-level, text-span-level, and AI inference data chains. Generates full traceability maps, letting the system trace any synthesized fact directly to its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Dynamic Knowledge Graph</a:t>
            </a:r>
          </a:p>
          <a:p>
            <a:pPr>
              <a:spcBef>
                <a:spcPts val="200"/>
              </a:spcBef>
              <a:defRPr sz="1000" b="1">
                <a:solidFill>
                  <a:srgbClr val="785028"/>
                </a:solidFill>
                <a:latin typeface="Georgia"/>
              </a:defRPr>
            </a:pPr>
            <a:r>
              <a:t>Layer 3: Graph Network (PyVis)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Automatically extracts semantic relationships and entities. Projects them into a NetworkX structure. Renders red edge lines to mark contradictions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Temporal Vector Store</a:t>
            </a:r>
          </a:p>
          <a:p>
            <a:pPr>
              <a:spcBef>
                <a:spcPts val="200"/>
              </a:spcBef>
              <a:defRPr sz="1000" b="1">
                <a:solidFill>
                  <a:srgbClr val="785028"/>
                </a:solidFill>
                <a:latin typeface="Georgia"/>
              </a:defRPr>
            </a:pPr>
            <a:r>
              <a:t>Layer 3: FAISS Semantic Retrieval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Creates 768-dim vector embeddings of chunked text using Gemini. Implements exponential recency decay (decay factor = 0.95) to prioritize the latest financial filings.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The Enterprise Intelligence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A premium Bookish design system with custom CSS, interactive frames, and responsive dashboards.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1. Intelligence Query Chat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Streams real-time answers (NDJSON fetch reader). Dynamically embeds interactive source-citation blocks and agent confidence bars.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2. Data Quality Dashboard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Interactive card deck listing per-source grades (A-F), total cells analyzed, and detailed null/duplicate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3. Contradiction Panel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Displays flagged tabular-to-document discrepancies. Groups by high, medium, and low severity with interactive click resolution.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4. Proactive Analytics Hub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Presents rolling time-series alerts, Coefficient of Variation percentages, and automatically derived trend risk rankings.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5. Knowledge Graph Tab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Embeds the custom interactive PyVis physics layout. Color-codes entities and draws conflict edges in red for instant discovery.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6. Cell-Level Lineage Explorer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Displays JSON/Table schemas. Enables deep search, resolving downstream fact nodes to the exact row and column index.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Deep Google Gemini API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How NeuralNexus harnesses Gemini models to construct an intelligent agent fabric.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System 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Gemini Model / Technology Used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Operational Pipeline Purpose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Agent Core Reasoning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Gemini 2.5 Flash Lite (Content Generation)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Powering Orchestrator, Validator, Reconciler, Forecaster, and Critic reasoning pipelines with extremely low latency.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Semantic Retrieval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Gemini Embedding-2 (models/gemini-embedding-2)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Generating high-dimensional (768-dim) vectors of data chunks to facilitate contextual RAG searches.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PDF Data Extraction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Gemini Multimodal Vision API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Extracting tabular data and raw text structures from highly complex, multi-page PDF documents.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Image Analysis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Gemini Multimodal Vision API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Ingesting screenshots, invoices, physical receipts, and analytical charts to transform image facts into structured database schemas.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Real-Time Streaming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Gemini API Stream (stream=True)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Enabling token-by-token content generation. Frontend reads HTTP stream immediately via Fetch API for responsive UI.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Quotas &amp; Stability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Thread-Safe Rate Limiter Integration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Custom middleware spacing API queries to eliminate 429 quota exceptions, guaranteeing uptime on standard models.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Strategic Business Value &amp; Market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Quantifying the commercial footprint and core enterprise monetization pathways.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11887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$15.8B</a:t>
            </a:r>
          </a:p>
          <a:p>
            <a:pPr algn="ctr">
              <a:defRPr sz="1100">
                <a:solidFill>
                  <a:srgbClr val="DCD7C8"/>
                </a:solidFill>
                <a:latin typeface="Georgia"/>
              </a:defRPr>
            </a:pPr>
            <a:r>
              <a:t>Total Addressable Market</a:t>
            </a:r>
            <a:br/>
            <a:r>
              <a:t>Enterprise Data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011680" cy="1188720"/>
          </a:xfrm>
          <a:prstGeom prst="roundRect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$4.2B</a:t>
            </a:r>
          </a:p>
          <a:p>
            <a:pPr algn="ctr">
              <a:defRPr sz="1100">
                <a:solidFill>
                  <a:srgbClr val="DCD7C8"/>
                </a:solidFill>
                <a:latin typeface="Georgia"/>
              </a:defRPr>
            </a:pPr>
            <a:r>
              <a:t>Serviceable Market</a:t>
            </a:r>
            <a:br/>
            <a:r>
              <a:t>AI-Native Data Auditing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2011680" cy="1737360"/>
          </a:xfrm>
          <a:prstGeom prst="rect">
            <a:avLst/>
          </a:prstGeom>
          <a:solidFill>
            <a:srgbClr val="F0EBDC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300" b="1">
                <a:solidFill>
                  <a:srgbClr val="785028"/>
                </a:solidFill>
                <a:latin typeface="Georgia"/>
              </a:defRPr>
            </a:pPr>
            <a:r>
              <a:t>🎯 Core Verticals</a:t>
            </a:r>
          </a:p>
          <a:p>
            <a:pPr>
              <a:spcBef>
                <a:spcPts val="8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Finance &amp; Banking</a:t>
            </a:r>
            <a:br/>
            <a:r>
              <a:t>Healthcare EMR</a:t>
            </a:r>
            <a:br/>
            <a:r>
              <a:t>Supply Chain &amp; POS</a:t>
            </a:r>
            <a:br/>
            <a:r>
              <a:t>Enterprise M&amp;A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45920"/>
            <a:ext cx="4114800" cy="448056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High-Impact Operational Savings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• Regulatory Compliance: Auto-builds fully audit-compliant logs (Data Lineage) for regulatory bodies, avoiding multimillion-dollar reporting errors.</a:t>
            </a:r>
            <a:br/>
            <a:br/>
            <a:r>
              <a:t>• Labor Reductions: Reduces manual review timelines from weeks to seconds, allowing financial analysts to shift focus to core decision modeling and strategic insights.</a:t>
            </a:r>
            <a:br/>
            <a:br/>
            <a:r>
              <a:t>• Reduced Capital At Risk: Discovers silent internal data mismatches before they propagate into published quarterly financials or public M&amp;A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4114800" cy="448056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Commercial Monetization Pathways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• Tiered SaaS License: Charged based on active user headcount, volume of active data pipelines, and database processing frequency.</a:t>
            </a:r>
            <a:br/>
            <a:br/>
            <a:r>
              <a:t>• Secure Enterprise API: Dedicated connectors designed to plug NeuralNexus directly into legacy corporate Business Intelligence tools like Tableau, Power BI, and ERPs.</a:t>
            </a:r>
            <a:br/>
            <a:br/>
            <a:r>
              <a:t>• Premium Compliance Exports: Custom billing model for exporting signed, cryptographically hashed audit trails for official external corporate auditing.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Originality &amp; Unique Selling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Comparing NeuralNexus with conventional AI assistants, dashboard systems, and ETL tools.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Feature Capability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Standard LLMs (ChatGPT)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Traditional BI (Power BI)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Legacy ETL (Informatica)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NeuralNexus Fabric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Federated Ingestion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Manual upload only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Requires separate ETL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Yes, complex manual setup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Auto-federate multiple files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Out-of-Box Anomaly Detection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⚠️ Rule-based manual metrics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⚠️ Requires complex configurations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Continuous autonomous scans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Cross-Source Reconciliation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Fails, hallucinates facts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Trust-weighted reasoning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Independent Answer Auditing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Five-dimension Critic QA gate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Fact Provenance &amp; Lineage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⚠️ Restricted to DB source info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Data movement mapping only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Cell-level audit trail in answers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Proactive Financial Alerts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Requires manual query prompt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⚠️ Static reports/manual dashboards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Proactive background insight feeds</a:t>
                      </a:r>
                    </a:p>
                  </a:txBody>
                  <a:tcPr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Dynamic Knowledge Mapping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832"/>
                          </a:solidFill>
                          <a:latin typeface="Georgia"/>
                        </a:defRPr>
                      </a:pPr>
                      <a:r>
                        <a:t>✅ Auto-built NetworkX graph UI</a:t>
                      </a:r>
                    </a:p>
                  </a:txBody>
                  <a:tcPr>
                    <a:solidFill>
                      <a:srgbClr val="F5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NeuralNexus Strategic Execution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A step-by-step scaling plan from current production MVP to full enterprise integrations.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2286000"/>
            <a:ext cx="1188720" cy="11887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011680" cy="201168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3A5F"/>
                </a:solidFill>
                <a:latin typeface="Georgia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200" b="1">
                <a:solidFill>
                  <a:srgbClr val="1E3A5F"/>
                </a:solidFill>
                <a:latin typeface="Georgia"/>
              </a:defRPr>
            </a:pPr>
            <a:r>
              <a:t>Current Production MVP</a:t>
            </a:r>
          </a:p>
          <a:p>
            <a:pPr>
              <a:spcBef>
                <a:spcPts val="600"/>
              </a:spcBef>
              <a:defRPr sz="1000">
                <a:solidFill>
                  <a:srgbClr val="1E2832"/>
                </a:solidFill>
                <a:latin typeface="Georgia"/>
              </a:defRPr>
            </a:pPr>
            <a:r>
              <a:t>5 agents integrated. React frontend + FastAPI backend. Streaming and KG active.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743200"/>
            <a:ext cx="36576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29000" y="2286000"/>
            <a:ext cx="1188720" cy="1188720"/>
          </a:xfrm>
          <a:prstGeom prst="ellipse">
            <a:avLst/>
          </a:prstGeom>
          <a:solidFill>
            <a:srgbClr val="28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P2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657600"/>
            <a:ext cx="2011680" cy="201168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86478"/>
                </a:solidFill>
                <a:latin typeface="Georgia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200" b="1">
                <a:solidFill>
                  <a:srgbClr val="1E3A5F"/>
                </a:solidFill>
                <a:latin typeface="Georgia"/>
              </a:defRPr>
            </a:pPr>
            <a:r>
              <a:t>Multi-Tenant Integration</a:t>
            </a:r>
          </a:p>
          <a:p>
            <a:pPr>
              <a:spcBef>
                <a:spcPts val="600"/>
              </a:spcBef>
              <a:defRPr sz="1000">
                <a:solidFill>
                  <a:srgbClr val="1E2832"/>
                </a:solidFill>
                <a:latin typeface="Georgia"/>
              </a:defRPr>
            </a:pPr>
            <a:r>
              <a:t>Implementing SSO/SAML, database auth, and granular user roles.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46320" y="2743200"/>
            <a:ext cx="36576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23560" y="2286000"/>
            <a:ext cx="1188720" cy="1188720"/>
          </a:xfrm>
          <a:prstGeom prst="ellipse">
            <a:avLst/>
          </a:prstGeom>
          <a:solidFill>
            <a:srgbClr val="78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657600"/>
            <a:ext cx="2011680" cy="201168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785028"/>
                </a:solidFill>
                <a:latin typeface="Georgia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200" b="1">
                <a:solidFill>
                  <a:srgbClr val="1E3A5F"/>
                </a:solidFill>
                <a:latin typeface="Georgia"/>
              </a:defRPr>
            </a:pPr>
            <a:r>
              <a:t>Live Connectors</a:t>
            </a:r>
          </a:p>
          <a:p>
            <a:pPr>
              <a:spcBef>
                <a:spcPts val="600"/>
              </a:spcBef>
              <a:defRPr sz="1000">
                <a:solidFill>
                  <a:srgbClr val="1E2832"/>
                </a:solidFill>
                <a:latin typeface="Georgia"/>
              </a:defRPr>
            </a:pPr>
            <a:r>
              <a:t>Connecting to PostgreSQL, Snowflake, and BigQuery for automated schedules.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80" y="2743200"/>
            <a:ext cx="36576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818120" y="2286000"/>
            <a:ext cx="1188720" cy="1188720"/>
          </a:xfrm>
          <a:prstGeom prst="ellipse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P4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657600"/>
            <a:ext cx="2011680" cy="201168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48C3C"/>
                </a:solidFill>
                <a:latin typeface="Georgia"/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200" b="1">
                <a:solidFill>
                  <a:srgbClr val="1E3A5F"/>
                </a:solidFill>
                <a:latin typeface="Georgia"/>
              </a:defRPr>
            </a:pPr>
            <a:r>
              <a:t>Deep AI Governance</a:t>
            </a:r>
          </a:p>
          <a:p>
            <a:pPr>
              <a:spcBef>
                <a:spcPts val="600"/>
              </a:spcBef>
              <a:defRPr sz="1000">
                <a:solidFill>
                  <a:srgbClr val="1E2832"/>
                </a:solidFill>
                <a:latin typeface="Georgia"/>
              </a:defRPr>
            </a:pPr>
            <a:r>
              <a:t>Enterprise integration with Lobster Trap for complete prompt audit trails.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35440" y="2743200"/>
            <a:ext cx="365760" cy="182880"/>
          </a:xfrm>
          <a:prstGeom prst="rightArrow">
            <a:avLst/>
          </a:prstGeom>
          <a:solidFill>
            <a:srgbClr val="B4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12680" y="2286000"/>
            <a:ext cx="1188720" cy="1188720"/>
          </a:xfrm>
          <a:prstGeom prst="ellipse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P5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3657600"/>
            <a:ext cx="2011680" cy="2011680"/>
          </a:xfrm>
          <a:prstGeom prst="roundRect">
            <a:avLst/>
          </a:prstGeom>
          <a:solidFill>
            <a:srgbClr val="F5F0E4"/>
          </a:solidFill>
          <a:ln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43C3C"/>
                </a:solidFill>
                <a:latin typeface="Georgia"/>
              </a:defRPr>
            </a:pPr>
            <a:r>
              <a:t>Phase 5</a:t>
            </a:r>
          </a:p>
          <a:p>
            <a:pPr>
              <a:spcBef>
                <a:spcPts val="400"/>
              </a:spcBef>
              <a:defRPr sz="1200" b="1">
                <a:solidFill>
                  <a:srgbClr val="1E3A5F"/>
                </a:solidFill>
                <a:latin typeface="Georgia"/>
              </a:defRPr>
            </a:pPr>
            <a:r>
              <a:t>Agent Marketplace</a:t>
            </a:r>
          </a:p>
          <a:p>
            <a:pPr>
              <a:spcBef>
                <a:spcPts val="600"/>
              </a:spcBef>
              <a:defRPr sz="1000">
                <a:solidFill>
                  <a:srgbClr val="1E2832"/>
                </a:solidFill>
                <a:latin typeface="Georgia"/>
              </a:defRPr>
            </a:pPr>
            <a:r>
              <a:t>Allowing corporate teams to build custom task-specific analytical agents.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The Complete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Standard, highly robust open-source tools and enterprise-ready framework structures.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🚀 Robust Backend Ecosystem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• Language: Python 3.13</a:t>
            </a:r>
            <a:br/>
            <a:br/>
            <a:r>
              <a:t>• Web Server: FastAPI async core, served via Uvicorn production container.</a:t>
            </a:r>
            <a:br/>
            <a:br/>
            <a:r>
              <a:t>• Core Agent Logic: Google Gemini 2.5 Flash Lite for agent reasoning.</a:t>
            </a:r>
            <a:br/>
            <a:br/>
            <a:r>
              <a:t>• Vector Store: FAISS (CPU) for nearest-neighbor semantic search indexing.</a:t>
            </a:r>
            <a:br/>
            <a:br/>
            <a:r>
              <a:t>• Data Processing: Pandas, NumPy, SciPy, and Scikit-learn.</a:t>
            </a:r>
            <a:br/>
            <a:br/>
            <a:r>
              <a:t>• Graph Processing: NetworkX backend, dynamically exported to PyVis HTML.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48056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🎨 Visual Frontend Interface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• Framework: React 18 component architecture, built with lightning-fast Vite.</a:t>
            </a:r>
            <a:br/>
            <a:br/>
            <a:r>
              <a:t>• UI Styling: Clean, premium Vanilla CSS library custom-coded for a beautiful 'Bookish' theme.</a:t>
            </a:r>
            <a:br/>
            <a:br/>
            <a:r>
              <a:t>• Icons System: Lucide React high-resolution graphics library.</a:t>
            </a:r>
            <a:br/>
            <a:br/>
            <a:r>
              <a:t>• Real-Time Streams: Customized Fetch Streams API to process and decode token NDJSON payloads dynamically.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66160" cy="448056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🔧 Deployment &amp; Lifecycle Tools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• Frontend Hosting: Vercel cloud architecture (connected to GitHub branch updates).</a:t>
            </a:r>
            <a:br/>
            <a:br/>
            <a:r>
              <a:t>• Backend Deployment: Render cloud service with secure virtual environments.</a:t>
            </a:r>
            <a:br/>
            <a:br/>
            <a:r>
              <a:t>• Code Repository: Managed securely under GitHub version control.</a:t>
            </a:r>
            <a:br/>
            <a:br/>
            <a:r>
              <a:t>• Secret Protection: Multi-layered environment variables via python-dotenv (.env.example).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Live Application Demonstration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Step-by-step user interaction walkthrough on our production-ready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480560"/>
          </a:xfrm>
          <a:prstGeom prst="roundRect">
            <a:avLst/>
          </a:prstGeom>
          <a:solidFill>
            <a:srgbClr val="F5F0E4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300" b="1">
                <a:solidFill>
                  <a:srgbClr val="1E3A5F"/>
                </a:solidFill>
                <a:latin typeface="Georgia"/>
              </a:defRPr>
            </a:pPr>
            <a:r>
              <a:t>Launch App</a:t>
            </a:r>
          </a:p>
          <a:p>
            <a:pPr>
              <a:spcBef>
                <a:spcPts val="12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Open neuralnexus-omega.vercel.app. Direct public link, no Vercel login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45920"/>
            <a:ext cx="2011680" cy="4480560"/>
          </a:xfrm>
          <a:prstGeom prst="roundRect">
            <a:avLst/>
          </a:prstGeom>
          <a:solidFill>
            <a:srgbClr val="F5F0E4"/>
          </a:solidFill>
          <a:ln w="25400">
            <a:solidFill>
              <a:srgbClr val="28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400" b="1">
                <a:solidFill>
                  <a:srgbClr val="286478"/>
                </a:solidFill>
                <a:latin typeface="Georgia"/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300" b="1">
                <a:solidFill>
                  <a:srgbClr val="1E3A5F"/>
                </a:solidFill>
                <a:latin typeface="Georgia"/>
              </a:defRPr>
            </a:pPr>
            <a:r>
              <a:t>Feed Datasets</a:t>
            </a:r>
          </a:p>
          <a:p>
            <a:pPr>
              <a:spcBef>
                <a:spcPts val="12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Click 'Init Demo Data' in the left menu to dynamically load 5 pre-built enterprise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011680" cy="4480560"/>
          </a:xfrm>
          <a:prstGeom prst="roundRect">
            <a:avLst/>
          </a:prstGeom>
          <a:solidFill>
            <a:srgbClr val="F5F0E4"/>
          </a:solidFill>
          <a:ln w="25400">
            <a:solidFill>
              <a:srgbClr val="785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400" b="1">
                <a:solidFill>
                  <a:srgbClr val="785028"/>
                </a:solidFill>
                <a:latin typeface="Georgia"/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300" b="1">
                <a:solidFill>
                  <a:srgbClr val="1E3A5F"/>
                </a:solidFill>
                <a:latin typeface="Georgia"/>
              </a:defRPr>
            </a:pPr>
            <a:r>
              <a:t>Run Pipeline</a:t>
            </a:r>
          </a:p>
          <a:p>
            <a:pPr>
              <a:spcBef>
                <a:spcPts val="12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Click 'Analyze' in the sidebar to execute pipeline scoring, contradictions, and graph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645920"/>
            <a:ext cx="2011680" cy="4480560"/>
          </a:xfrm>
          <a:prstGeom prst="roundRect">
            <a:avLst/>
          </a:prstGeom>
          <a:solidFill>
            <a:srgbClr val="F5F0E4"/>
          </a:solidFill>
          <a:ln w="25400">
            <a:solidFill>
              <a:srgbClr val="B4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400" b="1">
                <a:solidFill>
                  <a:srgbClr val="B48C3C"/>
                </a:solidFill>
                <a:latin typeface="Georgia"/>
              </a:defRPr>
            </a:pPr>
            <a:r>
              <a:t>Step 4</a:t>
            </a:r>
          </a:p>
          <a:p>
            <a:pPr>
              <a:spcBef>
                <a:spcPts val="600"/>
              </a:spcBef>
              <a:defRPr sz="1300" b="1">
                <a:solidFill>
                  <a:srgbClr val="1E3A5F"/>
                </a:solidFill>
                <a:latin typeface="Georgia"/>
              </a:defRPr>
            </a:pPr>
            <a:r>
              <a:t>Interactive Chat</a:t>
            </a:r>
          </a:p>
          <a:p>
            <a:pPr>
              <a:spcBef>
                <a:spcPts val="12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Type questions like: 'Summarize NA revenue' in the Query panel and watch NDJSON stream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645920"/>
            <a:ext cx="2011680" cy="4480560"/>
          </a:xfrm>
          <a:prstGeom prst="roundRect">
            <a:avLst/>
          </a:prstGeom>
          <a:solidFill>
            <a:srgbClr val="F5F0E4"/>
          </a:solidFill>
          <a:ln w="25400">
            <a:solidFill>
              <a:srgbClr val="28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tlCol="0" anchor="ctr"/>
          <a:lstStyle/>
          <a:p>
            <a:pPr algn="ctr">
              <a:defRPr sz="1400" b="1">
                <a:solidFill>
                  <a:srgbClr val="287850"/>
                </a:solidFill>
                <a:latin typeface="Georgia"/>
              </a:defRPr>
            </a:pPr>
            <a:r>
              <a:t>Step 5</a:t>
            </a:r>
          </a:p>
          <a:p>
            <a:pPr>
              <a:spcBef>
                <a:spcPts val="600"/>
              </a:spcBef>
              <a:defRPr sz="1300" b="1">
                <a:solidFill>
                  <a:srgbClr val="1E3A5F"/>
                </a:solidFill>
                <a:latin typeface="Georgia"/>
              </a:defRPr>
            </a:pPr>
            <a:r>
              <a:t>Explore UI</a:t>
            </a:r>
          </a:p>
          <a:p>
            <a:pPr>
              <a:spcBef>
                <a:spcPts val="12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Explore the dashboard tabs: read Quality scores, see conflicts, and explore the interactive graph.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  <a:latin typeface="Georgia"/>
              </a:defRPr>
            </a:pPr>
            <a:r>
              <a:t>NeuralNexus: Intelligence with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85028"/>
                </a:solidFill>
                <a:latin typeface="Georgia"/>
              </a:defRPr>
            </a:pPr>
            <a:r>
              <a:t>Redefining how enterprises validate, reconcile, and query multi-source financial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Georgia"/>
              </a:defRPr>
            </a:pPr>
            <a:r>
              <a:t>NeuralNexus — Track 4: Data &amp; Intelligence — AI Agent Olympics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Coordinated 5-Agent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A sophisticated multi-agent pipeline using Gemini 2.5 Flash Lite for fast, low-latency analytical reasoning. Features continuous background validation and strict answer auditing by the Critic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Complete Factual Integrity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Auto-detects numerical and semantic contradictions between data sources. Traces cell-level and text-span-level data lineage, completely neutralizing standard LLM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Widescreen Interface &amp; Graph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Beautiful custom-styled Bookish interface featuring real-time streaming, interactive quality score dashboards, proactive insights, and dynamic PyVis knowledge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C8B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1E3A5F"/>
                </a:solidFill>
                <a:latin typeface="Georgia"/>
              </a:defRPr>
            </a:pPr>
            <a:r>
              <a:t>Hackathon Ready Deployment</a:t>
            </a:r>
          </a:p>
          <a:p>
            <a:pPr>
              <a:spcBef>
                <a:spcPts val="600"/>
              </a:spcBef>
              <a:defRPr sz="1100">
                <a:solidFill>
                  <a:srgbClr val="1E2832"/>
                </a:solidFill>
                <a:latin typeface="Georgia"/>
              </a:defRPr>
            </a:pPr>
            <a:r>
              <a:t>100% production-ready and fully public deployment on Vercel and Render. Pushed directly to GitHub. Connect to your enterprise database to analyze data with total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 i="1">
                <a:solidFill>
                  <a:srgbClr val="785028"/>
                </a:solidFill>
                <a:latin typeface="Georgia"/>
              </a:defRPr>
            </a:pPr>
            <a:r>
              <a:t>“NeuralNexus doesn't just answer questions — it questions the answers.”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2642</Words>
  <Application>Microsoft Office PowerPoint</Application>
  <PresentationFormat>Custom</PresentationFormat>
  <Paragraphs>260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Hafiz Abdul Rehman</cp:lastModifiedBy>
  <cp:revision>3</cp:revision>
  <dcterms:created xsi:type="dcterms:W3CDTF">2013-01-27T09:14:16Z</dcterms:created>
  <dcterms:modified xsi:type="dcterms:W3CDTF">2026-05-17T17:50:21Z</dcterms:modified>
  <cp:category/>
</cp:coreProperties>
</file>